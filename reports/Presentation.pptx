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Bluestock MF Analytics Capstone presentation. This project delivers a complete end-to-end analytics platform for Indian mutual funds.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addresses the lack of a unified analytics platform for Indian mutual funds.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structured CSV datasets from Bluestock Fintech, supplemented by live NAV from mfapi.in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ETL pipeline: Extract from CSVs + API, Transform with pandas, Load into SQLite star schema.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half of EDA highlights covering NAV trends, AUM growth, SIP inflows, and folio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half of EDA: investor demographics, geographic distribution, sector allocation, category inflows.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performance metrics computed from scratch using daily NAV data and scipy for OLS regression.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Fund scorecard ranks all 40 schemes using a composite weighted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Pages 1 and 2: Industry Overview and Fund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Pages 3 and 4: Investor Analytics and SIP &amp; Market Trends.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key findings from across all 7 days of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you! Questions welcome.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463040"/>
          </a:xfrm>
          <a:prstGeom prst="rect">
            <a:avLst/>
          </a:prstGeom>
          <a:solidFill>
            <a:srgbClr val="1E88E5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565C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 MUTUAL FUND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 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Analytics Platform for Indian Mutual Funds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Schemes  |  10 AMCs  |  2022–2026  |  64,320+ NAV Records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Internship  |  Bluestock Fintech  |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Objective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mutual fund data is fragmented across AMCs with no unified analytics platform for comparing performance, risk, and investor behaviour.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83480" y="1463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ETL pipeline + SQLite database + EDA + performance analytics + advanced risk metrics + interactive dashboard covering 40 schemes across 10 AMCs.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ETL pipeline ingesting 10 CSV datasets + live NAV 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SQLite star schema with 11 fact &amp; dimension tables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institutional performance metrics: CAGR, Sharpe, Sortino, Alpha, Beta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4-page interactive Tableau dashboard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fund recommender system based on investor risk appetite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822960"/>
          </a:xfrm>
          <a:prstGeom prst="roundRect">
            <a:avLst>
              <a:gd name="adj" fmla="val 7778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01_fund_master.csv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rows  |  Fund metadata — AMC, category, risk grade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4023360" cy="822960"/>
          </a:xfrm>
          <a:prstGeom prst="roundRect">
            <a:avLst>
              <a:gd name="adj" fmla="val 7778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011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02_nav_history.csv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64,320 rows  |  Daily NAV (forward-filled for holidays)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023360" cy="822960"/>
          </a:xfrm>
          <a:prstGeom prst="roundRect">
            <a:avLst>
              <a:gd name="adj" fmla="val 7778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971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03_aum_by_fund_house.csv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10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rows  |  Monthly AUM per AMC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886200"/>
            <a:ext cx="4023360" cy="822960"/>
          </a:xfrm>
          <a:prstGeom prst="roundRect">
            <a:avLst>
              <a:gd name="adj" fmla="val 7778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931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04_monthly_sip_inflows.csv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2702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rows  |  Industry-wide SIP data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023360" cy="822960"/>
          </a:xfrm>
          <a:prstGeom prst="roundRect">
            <a:avLst>
              <a:gd name="adj" fmla="val 7778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07_scheme_performance.csv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13898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rows  |  Risk-return metrics per fund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965960"/>
            <a:ext cx="4023360" cy="822960"/>
          </a:xfrm>
          <a:prstGeom prst="roundRect">
            <a:avLst>
              <a:gd name="adj" fmla="val 7778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2011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08_investor_transactions.csv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350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32,778 rows  |  Individual investor records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2926080"/>
            <a:ext cx="4023360" cy="822960"/>
          </a:xfrm>
          <a:prstGeom prst="roundRect">
            <a:avLst>
              <a:gd name="adj" fmla="val 7778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2971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09_portfolio_holdings.csv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3310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322 rows  |  Stock-level fund holdings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3886200"/>
            <a:ext cx="4023360" cy="822960"/>
          </a:xfrm>
          <a:prstGeom prst="roundRect">
            <a:avLst>
              <a:gd name="adj" fmla="val 7778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3931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10_benchmark_indices.csv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42702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8,050 rows  |  Nifty 50 &amp; Nifty 100 daily values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Live NAV API from mfapi.in for 6 key schemes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Pipeline &amp;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058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1565C0">
              <a:alpha val="8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CSVs + mfapi.in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/ dtypes / nulls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AMFI code validation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94560" y="2148840"/>
            <a:ext cx="228600" cy="109728"/>
          </a:xfrm>
          <a:prstGeom prst="rect">
            <a:avLst/>
          </a:prstGeom>
          <a:solidFill>
            <a:srgbClr val="90CAF9"/>
          </a:solidFill>
          <a:ln/>
        </p:spPr>
      </p:sp>
      <p:sp>
        <p:nvSpPr>
          <p:cNvPr id="8" name="Shape 6"/>
          <p:cNvSpPr/>
          <p:nvPr/>
        </p:nvSpPr>
        <p:spPr>
          <a:xfrm>
            <a:off x="2423160" y="10058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00796B">
              <a:alpha val="8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51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14600" y="155448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parsing &amp; sort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Forward-fill holidays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 &amp; validate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2148840"/>
            <a:ext cx="228600" cy="109728"/>
          </a:xfrm>
          <a:prstGeom prst="rect">
            <a:avLst/>
          </a:prstGeom>
          <a:solidFill>
            <a:srgbClr val="90CA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10058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4527A0">
              <a:alpha val="8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051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155448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star schema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tables via SQLAlchemy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count verification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2148840"/>
            <a:ext cx="228600" cy="109728"/>
          </a:xfrm>
          <a:prstGeom prst="rect">
            <a:avLst/>
          </a:prstGeom>
          <a:solidFill>
            <a:srgbClr val="90CA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720840" y="10058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B71C1C">
              <a:alpha val="8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051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12280" y="155448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+ Performance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/ Rolling Sharpe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Scorecard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 — 1 Dimension + 10 Fact Tables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dim_fund  ·  fact_nav  ·  fact_transactions  ·  fact_performance  ·  fact_aum  ·  fact_portfolio  ·  fact_sip  ·  fact_category  ·  fact_folio  ·  fact_benchmark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Highlights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789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₹12.5L Cr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 AUM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(Industry Leader)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789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₹31,002 Cr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1460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SIP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(Dec 2025)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0789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+169%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Growth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(2022–2025)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10058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0789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26.12 Cr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2084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Folios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(2025)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EDA Findings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Trend: All 40 funds showed strong 2023 bull run (+15 to +28%). Mild -8% to -12% correction in early 2024, followed by recovery.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 Growth: SBI leads at Rs. 12.5L Crore. All 10 AMCs showed positive year-on-year AUM growth 2022–2025.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Momentum: Inflows grew consistently from Rs. 11,517 Cr (Jan 2022) to Rs. 31,002 Cr (Dec 2025) — a 4-year high.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Folio Doubling: Total industry folios grew from 13.26 Crore to 26.12 Crore — driven primarily by equity fund growth.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Highlights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3977640" cy="1783080"/>
          </a:xfrm>
          <a:prstGeom prst="roundRect">
            <a:avLst>
              <a:gd name="adj" fmla="val 5128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Demographics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48132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 25–34 = largest segment (32% of transactions)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SIP amounts highest in 35–44 bracket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Male 62% | Female 35% | Others 3%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3977640" cy="1783080"/>
          </a:xfrm>
          <a:prstGeom prst="roundRect">
            <a:avLst>
              <a:gd name="adj" fmla="val 5128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73168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Distribution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73168" y="148132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Maharashtra, Delhi, Karnataka = 45% of total SIP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T30 cities: 68% of investment value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B30 cities growing — financial inclusion drive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3977640" cy="1783080"/>
          </a:xfrm>
          <a:prstGeom prst="roundRect">
            <a:avLst>
              <a:gd name="adj" fmla="val 5128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3063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Allocation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344728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Financial Services: 28–32% portfolio weight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Sector: 15–20% portfolio weight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Strong correlation with NIFTY 50 composition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971800"/>
            <a:ext cx="3977640" cy="1783080"/>
          </a:xfrm>
          <a:prstGeom prst="roundRect">
            <a:avLst>
              <a:gd name="adj" fmla="val 5128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73168" y="3063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Inflows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3168" y="344728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Equity consistently outflows Debt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Large Cap most popular category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Strong seasonal Q4 inflow patterns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Analytics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Formulas Used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1565C0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624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Return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34640" y="1362456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NAV(t) / NAV(t-1) - 1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19656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1565C0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562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(n-year)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4640" y="185623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(NAV_end / NAV_start)^(1/n) - 1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13432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1565C0">
              <a:alpha val="2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350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 Ratio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235000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(Rp - Rf) / Std(Rp) x sqrt(252)   |   Rf = 6.5%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07208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1565C0">
              <a:alpha val="2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437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Sortino Ratio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284378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(Rp - Rf) / Std_downside x sqrt(252)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00984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1565C0">
              <a:alpha val="2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337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33375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Cov(fund, Nifty100) / Var(Nifty100)  via OLS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1565C0">
              <a:alpha val="2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8313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(ann.)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3831336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OLS Intercept x 252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288536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1565C0">
              <a:alpha val="2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3251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Drawdown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34640" y="432511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min( NAV / running_max - 1 )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Analytics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Funds — Fund Scorecard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182880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1188720"/>
                <a:gridCol w="914400"/>
                <a:gridCol w="914400"/>
                <a:gridCol w="1188720"/>
                <a:gridCol w="914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 Name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3yr CAGR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 Ratio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SBI Bluechip Direct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HDFC Top 100 Direct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79.6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ICICI Pru Bluechip Dir.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Axis Bluechip Direct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Kotak Bluechip Direct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3977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Cap Direct funds deliver best risk-adjusted returns (Sharpe &gt; 1.0)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plans outperform Regular by 0.5–1.2% annually due to lower expense ratios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score = 30% CAGR + 25% Sharpe + 20% Alpha + 15% Expense(inv) + 10% MaxDD(inv)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— Pages 1 &amp; 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 — Industry Overview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Cards: Total AUM, SIP Inflows, Folios, Schemes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Chart: Industry AUM trend 2022–2025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Chart: AUM by AMC (latest month)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[Dashboard Screenshot — Page 1]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— Fund Performance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41732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Scatter: Return vs Risk (bubble = AUM)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Scorecard — sortable table, all 40 funds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Slicers: Fund House, Category, Plan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2834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[Dashboard Screenshot — Page 2]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Tableau Public  |  Interactive filters on all charts  |  Drill-through enabled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— Pages 3 &amp; 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— Investor Analytics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Bar: Transaction amount by state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Donut: SIP vs Lumpsum vs Redemption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Bar: Avg SIP amount by age group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Slicers: State, Age Group, City Tier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[Dashboard Screenshot — Page 3]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— SIP &amp; Market Trends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41732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Dual-axis: SIP Inflow (bar) + Nifty 50 (line)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Heatmap: Category inflows by month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Bar: Top 5 categories by net inflow FY25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2834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[Dashboard Screenshot — Page 4]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4 pages exported as PNG screenshots and compiled into Dashboard.pdf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1565C0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4128" y="106984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 leads AUM at Rs. 12.5L Cr — 15% of total industry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1565C0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4128" y="207568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inflows +169% over 4 years — Rs. 31,002 Cr all-time high Dec 2025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1565C0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01752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24128" y="308152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folios doubled 13.26 Cr to 26.12 Cr — 18.5% CAGR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97764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1565C0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02336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24128" y="408736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Cap Direct funds: best Sharpe (&gt;1.0) and lowest VaR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96012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1565C0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00584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21808" y="106984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25–34 = largest investor segment; financial inclusion growing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96596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1565C0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01168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21808" y="207568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15–20% of SIP investors at-risk (gap &gt; 35 days) — retention opportunity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97180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1565C0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01752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21808" y="308152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 + IT = 43–52% of equity portfolios — concentration risk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97764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1565C0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402336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21808" y="408736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plans outperform Regular by 0.5–1.2% annually (compounding advantage)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solidFill>
            <a:srgbClr val="1E88E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 MF Analytics — Capstone Project 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Internship  |  Bluestock Fintech  |  June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6118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1565C0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36576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Schemes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03120" y="36118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1565C0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148840" y="36576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AMCs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49040" y="36118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1565C0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794760" y="36576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64K+ Records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94960" y="36118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1565C0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40680" y="36576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Charts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40880" y="36118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1565C0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36576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4-Page Dashboard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  |  Tableau Public Dashboard  |  Final Report PDF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Analytics</dc:title>
  <dc:subject>PptxGenJS Presentation</dc:subject>
  <dc:creator>Bluestock Fintech</dc:creator>
  <cp:lastModifiedBy>Bluestock Fintech</cp:lastModifiedBy>
  <cp:revision>1</cp:revision>
  <dcterms:created xsi:type="dcterms:W3CDTF">2026-06-12T00:49:24Z</dcterms:created>
  <dcterms:modified xsi:type="dcterms:W3CDTF">2026-06-12T00:49:24Z</dcterms:modified>
</cp:coreProperties>
</file>